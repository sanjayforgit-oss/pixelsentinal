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047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1148" cy="41148"/>
          </a:xfrm>
          <a:prstGeom prst="ellipse">
            <a:avLst/>
          </a:prstGeom>
          <a:solidFill>
            <a:srgbClr val="AAB2C8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645920"/>
            <a:ext cx="41148" cy="41148"/>
          </a:xfrm>
          <a:prstGeom prst="ellipse">
            <a:avLst/>
          </a:prstGeom>
          <a:solidFill>
            <a:srgbClr val="AAB2C8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926080"/>
            <a:ext cx="41148" cy="41148"/>
          </a:xfrm>
          <a:prstGeom prst="ellipse">
            <a:avLst/>
          </a:prstGeom>
          <a:solidFill>
            <a:srgbClr val="AAB2C8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5303520"/>
            <a:ext cx="41148" cy="41148"/>
          </a:xfrm>
          <a:prstGeom prst="ellipse">
            <a:avLst/>
          </a:prstGeom>
          <a:solidFill>
            <a:srgbClr val="AAB2C8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6035040"/>
            <a:ext cx="41148" cy="41148"/>
          </a:xfrm>
          <a:prstGeom prst="ellipse">
            <a:avLst/>
          </a:prstGeom>
          <a:solidFill>
            <a:srgbClr val="AAB2C8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0" y="548640"/>
            <a:ext cx="41148" cy="41148"/>
          </a:xfrm>
          <a:prstGeom prst="ellipse">
            <a:avLst/>
          </a:prstGeom>
          <a:solidFill>
            <a:srgbClr val="AAB2C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0" y="1828800"/>
            <a:ext cx="41148" cy="41148"/>
          </a:xfrm>
          <a:prstGeom prst="ellipse">
            <a:avLst/>
          </a:prstGeom>
          <a:solidFill>
            <a:srgbClr val="AAB2C8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0" y="3291840"/>
            <a:ext cx="41148" cy="41148"/>
          </a:xfrm>
          <a:prstGeom prst="ellipse">
            <a:avLst/>
          </a:prstGeom>
          <a:solidFill>
            <a:srgbClr val="AAB2C8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0" y="4937760"/>
            <a:ext cx="41148" cy="41148"/>
          </a:xfrm>
          <a:prstGeom prst="ellipse">
            <a:avLst/>
          </a:prstGeom>
          <a:solidFill>
            <a:srgbClr val="AAB2C8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0" y="6126480"/>
            <a:ext cx="41148" cy="41148"/>
          </a:xfrm>
          <a:prstGeom prst="ellipse">
            <a:avLst/>
          </a:prstGeom>
          <a:solidFill>
            <a:srgbClr val="AAB2C8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0" y="365760"/>
            <a:ext cx="41148" cy="41148"/>
          </a:xfrm>
          <a:prstGeom prst="ellipse">
            <a:avLst/>
          </a:prstGeom>
          <a:solidFill>
            <a:srgbClr val="AAB2C8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0" y="6400800"/>
            <a:ext cx="41148" cy="41148"/>
          </a:xfrm>
          <a:prstGeom prst="ellipse">
            <a:avLst/>
          </a:prstGeom>
          <a:solidFill>
            <a:srgbClr val="AAB2C8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62047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20142F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364785" y="685800"/>
            <a:ext cx="1463040" cy="1463040"/>
          </a:xfrm>
          <a:prstGeom prst="ellipse">
            <a:avLst/>
          </a:prstGeom>
          <a:solidFill>
            <a:srgbClr val="1B2340"/>
          </a:solidFill>
          <a:ln w="19050">
            <a:solidFill>
              <a:srgbClr val="FF6B35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65" y="1097280"/>
            <a:ext cx="640080" cy="6400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25146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PIXELSENTINEL</a:t>
            </a:r>
            <a:endParaRPr lang="en-US" sz="5400" dirty="0"/>
          </a:p>
        </p:txBody>
      </p:sp>
      <p:sp>
        <p:nvSpPr>
          <p:cNvPr id="19" name="Shape 16"/>
          <p:cNvSpPr/>
          <p:nvPr/>
        </p:nvSpPr>
        <p:spPr>
          <a:xfrm>
            <a:off x="5105095" y="3383280"/>
            <a:ext cx="1981505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7"/>
          <p:cNvSpPr/>
          <p:nvPr/>
        </p:nvSpPr>
        <p:spPr>
          <a:xfrm>
            <a:off x="1524305" y="3611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Infrared Image Colorization and Enhancement for Improved Object Interpretation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57200" y="4937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5230368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SANJAY B L ]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PixelSentinel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1163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5C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960120" y="2217420"/>
            <a:ext cx="914400" cy="9144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42773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057400" y="23134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SANJAY B L 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057400" y="277063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Sathyabama Institute of Science and Technology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5C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Shape 8"/>
          <p:cNvSpPr/>
          <p:nvPr/>
        </p:nvSpPr>
        <p:spPr>
          <a:xfrm>
            <a:off x="6583680" y="2217420"/>
            <a:ext cx="914400" cy="914400"/>
          </a:xfrm>
          <a:prstGeom prst="ellipse">
            <a:avLst/>
          </a:prstGeom>
          <a:solidFill>
            <a:srgbClr val="141B3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42773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– 1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680960" y="23134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MONIKA PALANIVEL 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680960" y="277063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Sathyabama Institute of Science and Technology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0120" y="4549140"/>
            <a:ext cx="914400" cy="914400"/>
          </a:xfrm>
          <a:prstGeom prst="ellipse">
            <a:avLst/>
          </a:prstGeom>
          <a:solidFill>
            <a:srgbClr val="141B34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759452"/>
            <a:ext cx="493776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57400" y="4343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– 2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057400" y="46451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SHARON BENITA S L 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2057400" y="510235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Sathyabama Institute of Science and Technology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263640" y="40233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0" y="4549140"/>
            <a:ext cx="914400" cy="914400"/>
          </a:xfrm>
          <a:prstGeom prst="ellipse">
            <a:avLst/>
          </a:prstGeom>
          <a:solidFill>
            <a:srgbClr val="141B34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4759452"/>
            <a:ext cx="493776" cy="4937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80960" y="4343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– 3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680960" y="46451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PRITHVIRAJ J 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7680960" y="510235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Sathyabama Institute of Science and Technology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11880" cy="5166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508760"/>
            <a:ext cx="566928" cy="566928"/>
          </a:xfrm>
          <a:prstGeom prst="ellipse">
            <a:avLst/>
          </a:prstGeom>
          <a:solidFill>
            <a:srgbClr val="141B3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63677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945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30632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Infrared satellite images are grayscale, low contrast, and hard to interpret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analysts and AI models struggle to identify roads, buildings, and vegetation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fail completely under night-time or bad weather conditions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way to convert raw IR satellite data into meaningful visual output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416552" y="1234440"/>
            <a:ext cx="3611880" cy="5166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90872" y="1508760"/>
            <a:ext cx="566928" cy="566928"/>
          </a:xfrm>
          <a:prstGeom prst="ellipse">
            <a:avLst/>
          </a:prstGeom>
          <a:solidFill>
            <a:srgbClr val="141B3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63677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90872" y="21945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SOLUTIONS DON'T WORK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690872" y="2743200"/>
            <a:ext cx="30632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PearlGAN and FoalGAN are built for ground-level cameras, not satellites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produce visually colorful images but hallucinate wrong colors for terrain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model uses physical satellite data to verify color accuracy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have been tested or validated on Landsat orbital satellite imagery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84464" y="1234440"/>
            <a:ext cx="3611880" cy="5166360"/>
          </a:xfrm>
          <a:prstGeom prst="roundRect">
            <a:avLst>
              <a:gd name="adj" fmla="val 2025"/>
            </a:avLst>
          </a:prstGeom>
          <a:solidFill>
            <a:srgbClr val="0A0E27"/>
          </a:solidFill>
          <a:ln/>
          <a:effectLst>
            <a:outerShdw blurRad="88900" dist="381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58784" y="150876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163677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58784" y="21945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PIXELSENTINEL DOES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558784" y="2743200"/>
            <a:ext cx="30632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IR images via super-resolution, then translates them to realistic RGB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NDVI / NDWI spectral indices to force physically correct colors — water is blue, vegetation is green, no guessing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downstream tasks like object detection, not just visual appearance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pipeline purpose-built for orbital satellite IR data, with a zero-hallucination guarantee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of Features Offered by the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554480"/>
            <a:ext cx="566928" cy="566928"/>
          </a:xfrm>
          <a:prstGeom prst="ellipse">
            <a:avLst/>
          </a:prstGeom>
          <a:solidFill>
            <a:srgbClr val="141B3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68249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26771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Satellite Dataset Pipeline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" y="2724912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Freely available sources such as Landsat 8/9, Sentinel-2, and MODIS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16552" y="128016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90872" y="155448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68249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72584" y="226771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72584" y="2724912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registration, band alignment, denoising, atmospheric correction, normalization, augmentation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84464" y="128016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58784" y="1554480"/>
            <a:ext cx="566928" cy="566928"/>
          </a:xfrm>
          <a:prstGeom prst="ellipse">
            <a:avLst/>
          </a:prstGeom>
          <a:solidFill>
            <a:srgbClr val="141B3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168249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0496" y="226771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Infrared Enhancement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540496" y="2724912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Super-resolution, sharpening, and contrast improvement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288536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4672" y="487375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IR-to-RGB Translation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04672" y="5330952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image-to-image model such as Pix2Pix for practical implementation feasibility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416552" y="3886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90872" y="4160520"/>
            <a:ext cx="566928" cy="566928"/>
          </a:xfrm>
          <a:prstGeom prst="ellipse">
            <a:avLst/>
          </a:prstGeom>
          <a:solidFill>
            <a:srgbClr val="141B34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4288536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72584" y="487375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Preservation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672584" y="5330952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or DeepLabV3+ with object verification support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284464" y="3886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558784" y="416052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0" y="4288536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540496" y="487375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Dashboard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540496" y="5330952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IR, colorized RGB, detection overlay, confidence score, comparison view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Flow Diagram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4206240" cy="868680"/>
          </a:xfrm>
          <a:prstGeom prst="roundRect">
            <a:avLst>
              <a:gd name="adj" fmla="val 9474"/>
            </a:avLst>
          </a:prstGeom>
          <a:solidFill>
            <a:srgbClr val="0A0E2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9047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4400" y="16733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IR Image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192" y="2322576"/>
            <a:ext cx="219456" cy="219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2578608"/>
            <a:ext cx="4206240" cy="868680"/>
          </a:xfrm>
          <a:prstGeom prst="roundRect">
            <a:avLst>
              <a:gd name="adj" fmla="val 9474"/>
            </a:avLst>
          </a:prstGeom>
          <a:solidFill>
            <a:srgbClr val="0A0E27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6517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14400" y="2834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192" y="3483864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85800" y="3739896"/>
            <a:ext cx="4206240" cy="868680"/>
          </a:xfrm>
          <a:prstGeom prst="roundRect">
            <a:avLst>
              <a:gd name="adj" fmla="val 9474"/>
            </a:avLst>
          </a:prstGeom>
          <a:solidFill>
            <a:srgbClr val="0A0E27"/>
          </a:solidFill>
          <a:ln/>
        </p:spPr>
      </p:sp>
      <p:sp>
        <p:nvSpPr>
          <p:cNvPr id="12" name="Text 8"/>
          <p:cNvSpPr/>
          <p:nvPr/>
        </p:nvSpPr>
        <p:spPr>
          <a:xfrm>
            <a:off x="914400" y="381304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914400" y="39959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Real-ESRGAN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(Super Resolution)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192" y="4645152"/>
            <a:ext cx="219456" cy="21945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85800" y="4901184"/>
            <a:ext cx="4206240" cy="868680"/>
          </a:xfrm>
          <a:prstGeom prst="roundRect">
            <a:avLst>
              <a:gd name="adj" fmla="val 9474"/>
            </a:avLst>
          </a:prstGeom>
          <a:solidFill>
            <a:srgbClr val="FF6B35"/>
          </a:solidFill>
          <a:ln/>
        </p:spPr>
      </p:sp>
      <p:sp>
        <p:nvSpPr>
          <p:cNvPr id="16" name="Text 11"/>
          <p:cNvSpPr/>
          <p:nvPr/>
        </p:nvSpPr>
        <p:spPr>
          <a:xfrm>
            <a:off x="914400" y="497433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914400" y="515721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Pix2Pix U-Net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(IR → RGB Colorization)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315200" y="1417320"/>
            <a:ext cx="4206240" cy="868680"/>
          </a:xfrm>
          <a:prstGeom prst="roundRect">
            <a:avLst>
              <a:gd name="adj" fmla="val 9474"/>
            </a:avLst>
          </a:prstGeom>
          <a:solidFill>
            <a:srgbClr val="0A0E27"/>
          </a:solidFill>
          <a:ln/>
        </p:spPr>
      </p:sp>
      <p:sp>
        <p:nvSpPr>
          <p:cNvPr id="19" name="Text 14"/>
          <p:cNvSpPr/>
          <p:nvPr/>
        </p:nvSpPr>
        <p:spPr>
          <a:xfrm>
            <a:off x="7543800" y="149047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7543800" y="16733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/ NDWI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2322576"/>
            <a:ext cx="219456" cy="21945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7315200" y="2578608"/>
            <a:ext cx="4206240" cy="868680"/>
          </a:xfrm>
          <a:prstGeom prst="roundRect">
            <a:avLst>
              <a:gd name="adj" fmla="val 9474"/>
            </a:avLst>
          </a:prstGeom>
          <a:solidFill>
            <a:srgbClr val="0A0E27"/>
          </a:solidFill>
          <a:ln/>
        </p:spPr>
      </p:sp>
      <p:sp>
        <p:nvSpPr>
          <p:cNvPr id="23" name="Text 17"/>
          <p:cNvSpPr/>
          <p:nvPr/>
        </p:nvSpPr>
        <p:spPr>
          <a:xfrm>
            <a:off x="7543800" y="26517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7543800" y="2834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+ DeepLabV3+</a:t>
            </a:r>
            <a:endParaRPr lang="en-US" sz="13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83864"/>
            <a:ext cx="219456" cy="219456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7315200" y="3739896"/>
            <a:ext cx="4206240" cy="868680"/>
          </a:xfrm>
          <a:prstGeom prst="roundRect">
            <a:avLst>
              <a:gd name="adj" fmla="val 9474"/>
            </a:avLst>
          </a:prstGeom>
          <a:solidFill>
            <a:srgbClr val="FF6B35"/>
          </a:solidFill>
          <a:ln/>
        </p:spPr>
      </p:sp>
      <p:sp>
        <p:nvSpPr>
          <p:cNvPr id="27" name="Text 20"/>
          <p:cNvSpPr/>
          <p:nvPr/>
        </p:nvSpPr>
        <p:spPr>
          <a:xfrm>
            <a:off x="7543800" y="381304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7543800" y="39959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Satellite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Dashboard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4892040" y="5335524"/>
            <a:ext cx="411480" cy="0"/>
          </a:xfrm>
          <a:prstGeom prst="line">
            <a:avLst/>
          </a:prstGeom>
          <a:noFill/>
          <a:ln w="28575">
            <a:solidFill>
              <a:srgbClr val="3D8BFD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303520" y="1399032"/>
            <a:ext cx="0" cy="3936492"/>
          </a:xfrm>
          <a:prstGeom prst="line">
            <a:avLst/>
          </a:prstGeom>
          <a:noFill/>
          <a:ln w="28575">
            <a:solidFill>
              <a:srgbClr val="3D8BFD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303520" y="1399032"/>
            <a:ext cx="2011680" cy="0"/>
          </a:xfrm>
          <a:prstGeom prst="line">
            <a:avLst/>
          </a:prstGeom>
          <a:noFill/>
          <a:ln w="28575">
            <a:solidFill>
              <a:srgbClr val="3D8BFD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Wireframes of the Proposed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709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infrared image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pre-processed and enhanced IR image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interpretation-friendly RGB output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segmentation or object detection overlay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confidence score and semantic reliability status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original IR and generated output side by side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2356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LAYOUT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23560" y="1645920"/>
            <a:ext cx="603504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5875">
            <a:solidFill>
              <a:srgbClr val="D7DCEA"/>
            </a:solidFill>
            <a:prstDash val="solid"/>
          </a:ln>
          <a:effectLst>
            <a:outerShdw blurRad="88900" dist="381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88152" y="1810512"/>
            <a:ext cx="1448410" cy="4425696"/>
          </a:xfrm>
          <a:prstGeom prst="roundRect">
            <a:avLst>
              <a:gd name="adj" fmla="val 3157"/>
            </a:avLst>
          </a:prstGeom>
          <a:solidFill>
            <a:srgbClr val="141B3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189" y="213055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79592" y="2679192"/>
            <a:ext cx="126553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01154" y="1810512"/>
            <a:ext cx="2896819" cy="4425696"/>
          </a:xfrm>
          <a:prstGeom prst="roundRect">
            <a:avLst>
              <a:gd name="adj" fmla="val 1578"/>
            </a:avLst>
          </a:prstGeom>
          <a:solidFill>
            <a:srgbClr val="0A0E2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0107" y="2130552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2594" y="2724912"/>
            <a:ext cx="271393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IR · Enhanced IR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Output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0462565" y="1810512"/>
            <a:ext cx="1448410" cy="4425696"/>
          </a:xfrm>
          <a:prstGeom prst="roundRect">
            <a:avLst>
              <a:gd name="adj" fmla="val 3157"/>
            </a:avLst>
          </a:prstGeom>
          <a:solidFill>
            <a:srgbClr val="141B34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5602" y="213055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54005" y="2679192"/>
            <a:ext cx="126553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7818120" cy="608076"/>
          </a:xfrm>
          <a:prstGeom prst="roundRect">
            <a:avLst>
              <a:gd name="adj" fmla="val 9023"/>
            </a:avLst>
          </a:prstGeom>
          <a:solidFill>
            <a:srgbClr val="141B34"/>
          </a:solidFill>
          <a:ln/>
        </p:spPr>
      </p:sp>
      <p:sp>
        <p:nvSpPr>
          <p:cNvPr id="4" name="Shape 2"/>
          <p:cNvSpPr/>
          <p:nvPr/>
        </p:nvSpPr>
        <p:spPr>
          <a:xfrm>
            <a:off x="630936" y="1044702"/>
            <a:ext cx="347472" cy="3474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630936" y="104470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969264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Satellite Input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1225296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Landsat 8/9 Band 10/11 (Thermal IR) — single-channel raw tile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11980" y="1522476"/>
            <a:ext cx="0" cy="41148"/>
          </a:xfrm>
          <a:prstGeom prst="line">
            <a:avLst/>
          </a:prstGeom>
          <a:noFill/>
          <a:ln w="22225">
            <a:solidFill>
              <a:srgbClr val="3D8BF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1563624"/>
            <a:ext cx="7818120" cy="608076"/>
          </a:xfrm>
          <a:prstGeom prst="roundRect">
            <a:avLst>
              <a:gd name="adj" fmla="val 9023"/>
            </a:avLst>
          </a:prstGeom>
          <a:solidFill>
            <a:srgbClr val="141B34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" y="1693926"/>
            <a:ext cx="347472" cy="3474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" y="169392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1618488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Alignment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97280" y="187452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GDAL, Rasterio — co-registration → atmospheric correction → normalization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11980" y="2171700"/>
            <a:ext cx="0" cy="41148"/>
          </a:xfrm>
          <a:prstGeom prst="line">
            <a:avLst/>
          </a:prstGeom>
          <a:noFill/>
          <a:ln w="22225">
            <a:solidFill>
              <a:srgbClr val="3D8BF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" y="2212848"/>
            <a:ext cx="7818120" cy="608076"/>
          </a:xfrm>
          <a:prstGeom prst="roundRect">
            <a:avLst>
              <a:gd name="adj" fmla="val 9023"/>
            </a:avLst>
          </a:prstGeom>
          <a:solidFill>
            <a:srgbClr val="141B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" y="2343150"/>
            <a:ext cx="347472" cy="3474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" y="234315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22677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Super-Resolution (Real-ESRGAN)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97280" y="2523744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 preprocessed IR → sharpened, high-res enhanced IR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11980" y="2820924"/>
            <a:ext cx="0" cy="41148"/>
          </a:xfrm>
          <a:prstGeom prst="line">
            <a:avLst/>
          </a:prstGeom>
          <a:noFill/>
          <a:ln w="22225">
            <a:solidFill>
              <a:srgbClr val="3D8BF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2920" y="2862072"/>
            <a:ext cx="7818120" cy="608076"/>
          </a:xfrm>
          <a:prstGeom prst="roundRect">
            <a:avLst>
              <a:gd name="adj" fmla="val 9023"/>
            </a:avLst>
          </a:prstGeom>
          <a:solidFill>
            <a:srgbClr val="141B34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" y="2992374"/>
            <a:ext cx="347472" cy="3474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" y="299237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2916936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IR-to-RGB Colorization (Pix2Pix)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97280" y="3172968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+ PatchGAN, trained on paired Landsat IR Band 10 / RGB Bands 4-3-2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11980" y="3470148"/>
            <a:ext cx="0" cy="41148"/>
          </a:xfrm>
          <a:prstGeom prst="line">
            <a:avLst/>
          </a:prstGeom>
          <a:noFill/>
          <a:ln w="22225">
            <a:solidFill>
              <a:srgbClr val="3D8BF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02920" y="3511296"/>
            <a:ext cx="7818120" cy="608076"/>
          </a:xfrm>
          <a:prstGeom prst="roundRect">
            <a:avLst>
              <a:gd name="adj" fmla="val 9023"/>
            </a:avLst>
          </a:prstGeom>
          <a:solidFill>
            <a:srgbClr val="FF6B35"/>
          </a:solidFill>
          <a:ln/>
        </p:spPr>
      </p:sp>
      <p:sp>
        <p:nvSpPr>
          <p:cNvPr id="28" name="Shape 26"/>
          <p:cNvSpPr/>
          <p:nvPr/>
        </p:nvSpPr>
        <p:spPr>
          <a:xfrm>
            <a:off x="630936" y="3641598"/>
            <a:ext cx="347472" cy="347472"/>
          </a:xfrm>
          <a:prstGeom prst="ellipse">
            <a:avLst/>
          </a:prstGeom>
          <a:solidFill>
            <a:srgbClr val="0A0E27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" y="364159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97280" y="356616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Verification (NDVI / NDWI)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97280" y="382219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color constraints — water = blue, vegetation = green, no hallucination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11980" y="4119372"/>
            <a:ext cx="0" cy="41148"/>
          </a:xfrm>
          <a:prstGeom prst="line">
            <a:avLst/>
          </a:prstGeom>
          <a:noFill/>
          <a:ln w="22225">
            <a:solidFill>
              <a:srgbClr val="3D8BFD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02920" y="4160520"/>
            <a:ext cx="7818120" cy="608076"/>
          </a:xfrm>
          <a:prstGeom prst="roundRect">
            <a:avLst>
              <a:gd name="adj" fmla="val 9023"/>
            </a:avLst>
          </a:prstGeom>
          <a:solidFill>
            <a:srgbClr val="141B34"/>
          </a:solidFill>
          <a:ln/>
        </p:spPr>
      </p:sp>
      <p:sp>
        <p:nvSpPr>
          <p:cNvPr id="34" name="Shape 32"/>
          <p:cNvSpPr/>
          <p:nvPr/>
        </p:nvSpPr>
        <p:spPr>
          <a:xfrm>
            <a:off x="630936" y="4290822"/>
            <a:ext cx="347472" cy="3474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" y="429082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97280" y="4215384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Segmentation (YOLO + DeepLabV3+)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97280" y="4471416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downstream accuracy improvement over raw IR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411980" y="4768596"/>
            <a:ext cx="0" cy="41148"/>
          </a:xfrm>
          <a:prstGeom prst="line">
            <a:avLst/>
          </a:prstGeom>
          <a:noFill/>
          <a:ln w="22225">
            <a:solidFill>
              <a:srgbClr val="3D8BFD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02920" y="4809744"/>
            <a:ext cx="7818120" cy="608076"/>
          </a:xfrm>
          <a:prstGeom prst="roundRect">
            <a:avLst>
              <a:gd name="adj" fmla="val 9023"/>
            </a:avLst>
          </a:prstGeom>
          <a:solidFill>
            <a:srgbClr val="141B34"/>
          </a:solidFill>
          <a:ln/>
        </p:spPr>
      </p:sp>
      <p:sp>
        <p:nvSpPr>
          <p:cNvPr id="40" name="Shape 38"/>
          <p:cNvSpPr/>
          <p:nvPr/>
        </p:nvSpPr>
        <p:spPr>
          <a:xfrm>
            <a:off x="630936" y="4940046"/>
            <a:ext cx="347472" cy="3474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" y="494004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97280" y="4864608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 Dashboard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97280" y="51206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IR / Enhanced IR / Colorized RGB / Detection Overlay — PSNR, SSIM, FID, Inference Time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549640" y="914400"/>
            <a:ext cx="3154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3D8BFD"/>
            </a:solidFill>
            <a:prstDash val="solid"/>
          </a:ln>
        </p:spPr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143000"/>
            <a:ext cx="365760" cy="36576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9235440" y="115214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8778240" y="169164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and metric values are illustrative and shown for conceptual demonstration only. Actual results will be reported after training and validation.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8549640" y="3246120"/>
            <a:ext cx="3154680" cy="3749040"/>
          </a:xfrm>
          <a:prstGeom prst="roundRect">
            <a:avLst>
              <a:gd name="adj" fmla="val 2319"/>
            </a:avLst>
          </a:prstGeom>
          <a:solidFill>
            <a:srgbClr val="0A0E27"/>
          </a:solidFill>
          <a:ln/>
        </p:spPr>
      </p:sp>
      <p:pic>
        <p:nvPicPr>
          <p:cNvPr id="4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3474720"/>
            <a:ext cx="365760" cy="36576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9235440" y="34930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</a:t>
            </a:r>
            <a:endParaRPr lang="en-US" sz="1350" dirty="0"/>
          </a:p>
        </p:txBody>
      </p:sp>
      <p:sp>
        <p:nvSpPr>
          <p:cNvPr id="51" name="Text 47"/>
          <p:cNvSpPr/>
          <p:nvPr/>
        </p:nvSpPr>
        <p:spPr>
          <a:xfrm>
            <a:off x="8823960" y="40233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1300" dirty="0"/>
          </a:p>
        </p:txBody>
      </p:sp>
      <p:sp>
        <p:nvSpPr>
          <p:cNvPr id="52" name="Text 48"/>
          <p:cNvSpPr/>
          <p:nvPr/>
        </p:nvSpPr>
        <p:spPr>
          <a:xfrm>
            <a:off x="8823960" y="42976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quality vs ground-truth RGB</a:t>
            </a:r>
            <a:endParaRPr lang="en-US" sz="1000" dirty="0"/>
          </a:p>
        </p:txBody>
      </p:sp>
      <p:sp>
        <p:nvSpPr>
          <p:cNvPr id="53" name="Text 49"/>
          <p:cNvSpPr/>
          <p:nvPr/>
        </p:nvSpPr>
        <p:spPr>
          <a:xfrm>
            <a:off x="8823960" y="47365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300" dirty="0"/>
          </a:p>
        </p:txBody>
      </p:sp>
      <p:sp>
        <p:nvSpPr>
          <p:cNvPr id="54" name="Text 50"/>
          <p:cNvSpPr/>
          <p:nvPr/>
        </p:nvSpPr>
        <p:spPr>
          <a:xfrm>
            <a:off x="8823960" y="50109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integrity preservation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8823960" y="54498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</a:t>
            </a:r>
            <a:endParaRPr lang="en-US" sz="1300" dirty="0"/>
          </a:p>
        </p:txBody>
      </p:sp>
      <p:sp>
        <p:nvSpPr>
          <p:cNvPr id="56" name="Text 52"/>
          <p:cNvSpPr/>
          <p:nvPr/>
        </p:nvSpPr>
        <p:spPr>
          <a:xfrm>
            <a:off x="8823960" y="572414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 of generated RGB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8823960" y="616305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</a:t>
            </a:r>
            <a:endParaRPr lang="en-US" sz="1300" dirty="0"/>
          </a:p>
        </p:txBody>
      </p:sp>
      <p:sp>
        <p:nvSpPr>
          <p:cNvPr id="58" name="Text 54"/>
          <p:cNvSpPr/>
          <p:nvPr/>
        </p:nvSpPr>
        <p:spPr>
          <a:xfrm>
            <a:off x="8823960" y="643737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for operational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to Be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444752"/>
            <a:ext cx="530352" cy="530352"/>
          </a:xfrm>
          <a:prstGeom prst="ellipse">
            <a:avLst/>
          </a:prstGeom>
          <a:solidFill>
            <a:srgbClr val="141B3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57276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10312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" y="2514600"/>
            <a:ext cx="30998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/ TensorFlow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or Flask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416552" y="11887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72584" y="1444752"/>
            <a:ext cx="530352" cy="530352"/>
          </a:xfrm>
          <a:prstGeom prst="ellipse">
            <a:avLst/>
          </a:prstGeom>
          <a:solidFill>
            <a:srgbClr val="141B3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57276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72584" y="210312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 &amp; Geospatial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72584" y="2514600"/>
            <a:ext cx="30998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OpenCV, Rasterio, GDAL, NumPy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Albumentations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Engine (optional)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284464" y="1188720"/>
            <a:ext cx="3337560" cy="4892040"/>
          </a:xfrm>
          <a:prstGeom prst="roundRect">
            <a:avLst>
              <a:gd name="adj" fmla="val 2192"/>
            </a:avLst>
          </a:prstGeom>
          <a:solidFill>
            <a:srgbClr val="0A0E27"/>
          </a:solidFill>
          <a:ln/>
          <a:effectLst>
            <a:outerShdw blurRad="88900" dist="381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40496" y="1444752"/>
            <a:ext cx="530352" cy="530352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157276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0496" y="2103120"/>
            <a:ext cx="2825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540496" y="2514600"/>
            <a:ext cx="2825496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Super-Resolution: Real-ESRGAN (SwinIR alt.)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Colorization: Pix2Pix (U-Net + PatchGAN)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Segmentation: U-Net / DeepLabV3+ · Detection: YOLO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Constraint: NDVI &amp; NDWI (Landsat bands)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7490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05072"/>
            <a:ext cx="530352" cy="530352"/>
          </a:xfrm>
          <a:prstGeom prst="ellipse">
            <a:avLst/>
          </a:prstGeom>
          <a:solidFill>
            <a:srgbClr val="141B3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13308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4672" y="466344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04672" y="5074920"/>
            <a:ext cx="30998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— reconstruction quality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— structural integrity · FID — realism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 per tile — scalability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416552" y="37490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72584" y="4005072"/>
            <a:ext cx="530352" cy="530352"/>
          </a:xfrm>
          <a:prstGeom prst="ellipse">
            <a:avLst/>
          </a:prstGeom>
          <a:solidFill>
            <a:srgbClr val="141B34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4133088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72584" y="466344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&amp; Demo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672584" y="5074920"/>
            <a:ext cx="30998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or React dashboard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&amp; detection overlays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35331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IR colorization pipeline purpose-built and validated on Landsat orbital satellite data — not repurposed from ground-level thermal camera models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constraint module (NDVI/NDWI) eliminates hallucinated colors — directly addressing the brief's qualitative evaluation criterion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validated against downstream object detection accuracy, not just visual realism — matching the brief's objective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tile-aware pipeline (GDAL/Rasterio) ensures consistent color mapping and is deployable at operational scale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 optimized per tile — meeting the brief's scalability evaluation metric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309360" y="1234440"/>
            <a:ext cx="502920" cy="502920"/>
          </a:xfrm>
          <a:prstGeom prst="ellipse">
            <a:avLst/>
          </a:prstGeom>
          <a:solidFill>
            <a:srgbClr val="3D8BFD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1353312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309360" y="1874520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1B2340"/>
          </a:solidFill>
          <a:ln/>
        </p:spPr>
      </p:sp>
      <p:sp>
        <p:nvSpPr>
          <p:cNvPr id="11" name="Shape 7"/>
          <p:cNvSpPr/>
          <p:nvPr/>
        </p:nvSpPr>
        <p:spPr>
          <a:xfrm>
            <a:off x="6492240" y="2093976"/>
            <a:ext cx="457200" cy="45720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2" name="Text 8"/>
          <p:cNvSpPr/>
          <p:nvPr/>
        </p:nvSpPr>
        <p:spPr>
          <a:xfrm>
            <a:off x="6492240" y="2093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14032" y="1984248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and preprocess paired Landsat 8/9 IR (Band 10) and visible RGB (Bands 4-3-2) training tiles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2953512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1B2340"/>
          </a:solidFill>
          <a:ln/>
        </p:spPr>
      </p:sp>
      <p:sp>
        <p:nvSpPr>
          <p:cNvPr id="15" name="Shape 11"/>
          <p:cNvSpPr/>
          <p:nvPr/>
        </p:nvSpPr>
        <p:spPr>
          <a:xfrm>
            <a:off x="6492240" y="3172968"/>
            <a:ext cx="457200" cy="45720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6" name="Text 12"/>
          <p:cNvSpPr/>
          <p:nvPr/>
        </p:nvSpPr>
        <p:spPr>
          <a:xfrm>
            <a:off x="649224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114032" y="3063240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Real-ESRGAN on the Landsat IR domain and train Pix2Pix on the paired Landsat IR/RGB dataset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309360" y="4032504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1B2340"/>
          </a:solidFill>
          <a:ln/>
        </p:spPr>
      </p:sp>
      <p:sp>
        <p:nvSpPr>
          <p:cNvPr id="19" name="Shape 15"/>
          <p:cNvSpPr/>
          <p:nvPr/>
        </p:nvSpPr>
        <p:spPr>
          <a:xfrm>
            <a:off x="6492240" y="4251960"/>
            <a:ext cx="457200" cy="45720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20" name="Text 16"/>
          <p:cNvSpPr/>
          <p:nvPr/>
        </p:nvSpPr>
        <p:spPr>
          <a:xfrm>
            <a:off x="64922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114032" y="4142232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NDVI/NDWI semantic constraint layer and validate against PSNR, SSIM, FID, and inference-time benchmarks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309360" y="5111496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1B2340"/>
          </a:solidFill>
          <a:ln/>
        </p:spPr>
      </p:sp>
      <p:sp>
        <p:nvSpPr>
          <p:cNvPr id="23" name="Shape 19"/>
          <p:cNvSpPr/>
          <p:nvPr/>
        </p:nvSpPr>
        <p:spPr>
          <a:xfrm>
            <a:off x="6492240" y="5330952"/>
            <a:ext cx="457200" cy="45720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24" name="Text 20"/>
          <p:cNvSpPr/>
          <p:nvPr/>
        </p:nvSpPr>
        <p:spPr>
          <a:xfrm>
            <a:off x="6492240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7114032" y="5221224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prototype dashboard for qualitative and quantitative demo during evaluation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875</Words>
  <Application>Microsoft Office PowerPoint</Application>
  <PresentationFormat>Widescreen</PresentationFormat>
  <Paragraphs>162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SANJAY BABU</cp:lastModifiedBy>
  <cp:revision>2</cp:revision>
  <dcterms:created xsi:type="dcterms:W3CDTF">2026-07-20T20:55:24Z</dcterms:created>
  <dcterms:modified xsi:type="dcterms:W3CDTF">2026-07-20T21:08:28Z</dcterms:modified>
</cp:coreProperties>
</file>