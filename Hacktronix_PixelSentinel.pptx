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93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adi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93" y="-1"/>
            <a:ext cx="12247681" cy="6858171"/>
          </a:xfrm>
          <a:prstGeom prst="rect">
            <a:avLst/>
          </a:prstGeom>
        </p:spPr>
      </p:pic>
      <p:pic>
        <p:nvPicPr>
          <p:cNvPr id="3" name="Image 1" descr="/home/claude/a_sair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07" y="177394"/>
            <a:ext cx="105156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465" y="118872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RAM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Institution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Tambaram, Chennai - 44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www.sairam.edu.in</a:t>
            </a:r>
            <a:endParaRPr lang="en-US" sz="1500" dirty="0"/>
          </a:p>
        </p:txBody>
      </p:sp>
      <p:pic>
        <p:nvPicPr>
          <p:cNvPr id="5" name="Image 2" descr="/home/claude/a_aids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710" y="502006"/>
            <a:ext cx="1726387" cy="835762"/>
          </a:xfrm>
          <a:prstGeom prst="rect">
            <a:avLst/>
          </a:prstGeom>
        </p:spPr>
      </p:pic>
      <p:pic>
        <p:nvPicPr>
          <p:cNvPr id="6" name="Image 3" descr="/home/claude/a_drag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208" y="2215591"/>
            <a:ext cx="3727094" cy="3710635"/>
          </a:xfrm>
          <a:prstGeom prst="rect">
            <a:avLst/>
          </a:prstGeom>
        </p:spPr>
      </p:pic>
      <p:pic>
        <p:nvPicPr>
          <p:cNvPr id="7" name="Image 4" descr="/home/claude/a_tit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959" y="459029"/>
            <a:ext cx="7680960" cy="1033272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03225" y="214884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Category :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686105" y="244144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503225" y="271576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ID :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686105" y="300837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SW-01 :ARTIFICIAL INTELLIGENCE &amp; GENERATIVE AI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503225" y="328269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: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86105" y="357530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Image Colorization and Enhancement for Improved Object Interpretation</a:t>
            </a:r>
            <a:endParaRPr lang="en-US" sz="1600" b="1" dirty="0"/>
          </a:p>
        </p:txBody>
      </p:sp>
      <p:sp>
        <p:nvSpPr>
          <p:cNvPr id="14" name="Text 7"/>
          <p:cNvSpPr/>
          <p:nvPr/>
        </p:nvSpPr>
        <p:spPr>
          <a:xfrm>
            <a:off x="475599" y="396392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Name :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58479" y="42565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PixelSentinel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75599" y="453085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Name :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58479" y="48234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75599" y="509778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 Name :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95436" y="5326472"/>
            <a:ext cx="72237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B L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248107" y="64830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*no extra slides should be added, maintain the same template</a:t>
            </a:r>
            <a:endParaRPr lang="en-US" sz="1050" dirty="0"/>
          </a:p>
        </p:txBody>
      </p:sp>
      <p:pic>
        <p:nvPicPr>
          <p:cNvPr id="21" name="Image 5" descr="/home/claude/a_footer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1859" y="6286500"/>
            <a:ext cx="1459382" cy="3895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51D0E2-FEC0-1184-8C34-F3D370735CB8}"/>
              </a:ext>
            </a:extLst>
          </p:cNvPr>
          <p:cNvSpPr txBox="1"/>
          <p:nvPr/>
        </p:nvSpPr>
        <p:spPr>
          <a:xfrm>
            <a:off x="2921189" y="60907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HACKTRONIX 2.0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0CFEEB-7E41-B535-F518-12AFC3A6FCA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-1" b="70963"/>
          <a:stretch>
            <a:fillRect/>
          </a:stretch>
        </p:blipFill>
        <p:spPr>
          <a:xfrm>
            <a:off x="-27993" y="0"/>
            <a:ext cx="12192000" cy="19933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adi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" y="273406"/>
            <a:ext cx="1820570" cy="10177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5740" y="273406"/>
            <a:ext cx="1820570" cy="1017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PIXELSENTINEL</a:t>
            </a:r>
            <a:endParaRPr lang="en-US" sz="1300" dirty="0"/>
          </a:p>
        </p:txBody>
      </p:sp>
      <p:pic>
        <p:nvPicPr>
          <p:cNvPr id="5" name="Image 2" descr="/home/claude/a_dr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56032"/>
            <a:ext cx="1339596" cy="133319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31720" y="3840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800" dirty="0"/>
          </a:p>
        </p:txBody>
      </p:sp>
      <p:pic>
        <p:nvPicPr>
          <p:cNvPr id="8" name="Image 3" descr="/home/claude/a_footer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1554" y="6286500"/>
            <a:ext cx="1459382" cy="389534"/>
          </a:xfrm>
          <a:prstGeom prst="rect">
            <a:avLst/>
          </a:prstGeom>
        </p:spPr>
      </p:pic>
      <p:pic>
        <p:nvPicPr>
          <p:cNvPr id="9" name="Picture 8" descr="problem_tile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2360205"/>
            <a:ext cx="1746885" cy="2125376"/>
          </a:xfrm>
          <a:prstGeom prst="rect">
            <a:avLst/>
          </a:prstGeom>
        </p:spPr>
      </p:pic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23221EDF-68FF-FD0A-7C00-4FB5079ED66E}"/>
              </a:ext>
            </a:extLst>
          </p:cNvPr>
          <p:cNvSpPr/>
          <p:nvPr/>
        </p:nvSpPr>
        <p:spPr>
          <a:xfrm>
            <a:off x="529963" y="1715898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satellite images are grayscale, low contrast, and hard to interpret — human analysts and AI models struggle to identify roads, buildings, and vegetation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30552E55-C8D9-DF85-D7BC-C189BB472F66}"/>
              </a:ext>
            </a:extLst>
          </p:cNvPr>
          <p:cNvSpPr/>
          <p:nvPr/>
        </p:nvSpPr>
        <p:spPr>
          <a:xfrm>
            <a:off x="533068" y="2661400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Existing tools fail completely under night-time or bad weather conditions, and there is no reliable way to convert raw IR satellite data into meaningful visual output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842BC71-2A76-AF33-4D35-2E1B70876CAB}"/>
              </a:ext>
            </a:extLst>
          </p:cNvPr>
          <p:cNvSpPr/>
          <p:nvPr/>
        </p:nvSpPr>
        <p:spPr>
          <a:xfrm>
            <a:off x="551729" y="3585145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Ground-level colorization models (e.g. </a:t>
            </a:r>
            <a:r>
              <a:rPr lang="en-US" sz="1400" dirty="0" err="1">
                <a:solidFill>
                  <a:schemeClr val="bg1"/>
                </a:solidFill>
              </a:rPr>
              <a:t>PearlGAN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FoalGAN</a:t>
            </a:r>
            <a:r>
              <a:rPr lang="en-US" sz="1400" dirty="0">
                <a:solidFill>
                  <a:schemeClr val="bg1"/>
                </a:solidFill>
              </a:rPr>
              <a:t>) are not built for satellites — they hallucinate wrong colors for terrain and are never validated on orbital imagery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7BEEF204-42BD-BF36-EDB4-AC74D8370BB4}"/>
              </a:ext>
            </a:extLst>
          </p:cNvPr>
          <p:cNvSpPr/>
          <p:nvPr/>
        </p:nvSpPr>
        <p:spPr>
          <a:xfrm>
            <a:off x="542398" y="4499533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No existing model uses physical satellite spectral data to verify color accuracy before presenting results to analysts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adi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" y="273406"/>
            <a:ext cx="1820570" cy="10177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5740" y="273406"/>
            <a:ext cx="1820570" cy="1017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PIXELSENTINEL</a:t>
            </a:r>
            <a:endParaRPr lang="en-US" sz="1300" dirty="0"/>
          </a:p>
        </p:txBody>
      </p:sp>
      <p:pic>
        <p:nvPicPr>
          <p:cNvPr id="5" name="Image 2" descr="/home/claude/a_dr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56032"/>
            <a:ext cx="1339596" cy="133319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31720" y="3840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800" dirty="0"/>
          </a:p>
        </p:txBody>
      </p:sp>
      <p:pic>
        <p:nvPicPr>
          <p:cNvPr id="8" name="Image 3" descr="/home/claude/a_footer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1554" y="6286500"/>
            <a:ext cx="1459382" cy="389534"/>
          </a:xfrm>
          <a:prstGeom prst="rect">
            <a:avLst/>
          </a:prstGeom>
        </p:spPr>
      </p:pic>
      <p:pic>
        <p:nvPicPr>
          <p:cNvPr id="9" name="Picture 8" descr="solution_tile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1" y="2327645"/>
            <a:ext cx="1754488" cy="2134627"/>
          </a:xfrm>
          <a:prstGeom prst="rect">
            <a:avLst/>
          </a:prstGeom>
        </p:spPr>
      </p:pic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D87308ED-34CB-84F7-2A2F-627E95F25B5F}"/>
              </a:ext>
            </a:extLst>
          </p:cNvPr>
          <p:cNvSpPr/>
          <p:nvPr/>
        </p:nvSpPr>
        <p:spPr>
          <a:xfrm>
            <a:off x="529963" y="1715898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PixelSentinel enhances infrared satellite images using super-resolution, then translates them to realistic RGB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4AF5C1E4-AE3C-3184-734C-88A43E2EEE1C}"/>
              </a:ext>
            </a:extLst>
          </p:cNvPr>
          <p:cNvSpPr/>
          <p:nvPr/>
        </p:nvSpPr>
        <p:spPr>
          <a:xfrm>
            <a:off x="533068" y="2661400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Uses NDVI and NDWI spectral indices to force physically correct colors — water is blue, vegetation is green, no guessing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0D3755D8-CBEF-5444-BB53-B2947F1BA8BD}"/>
              </a:ext>
            </a:extLst>
          </p:cNvPr>
          <p:cNvSpPr/>
          <p:nvPr/>
        </p:nvSpPr>
        <p:spPr>
          <a:xfrm>
            <a:off x="551729" y="3585145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Validated on actual downstream tasks like object detection, not just visual appearance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CFA0DA56-66F7-8BD0-57B1-546B669C900C}"/>
              </a:ext>
            </a:extLst>
          </p:cNvPr>
          <p:cNvSpPr/>
          <p:nvPr/>
        </p:nvSpPr>
        <p:spPr>
          <a:xfrm>
            <a:off x="542398" y="4499533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First pipeline purpose-built for orbital satellite IR data (Landsat 8/9), with a zero-hallucination guarantee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adi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" y="273406"/>
            <a:ext cx="1820570" cy="10177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5740" y="273406"/>
            <a:ext cx="1820570" cy="1017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PIXELSENTINEL</a:t>
            </a:r>
            <a:endParaRPr lang="en-US" sz="1300" dirty="0"/>
          </a:p>
        </p:txBody>
      </p:sp>
      <p:pic>
        <p:nvPicPr>
          <p:cNvPr id="5" name="Image 2" descr="/home/claude/a_dr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56032"/>
            <a:ext cx="1339596" cy="133319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31720" y="3840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800" dirty="0"/>
          </a:p>
        </p:txBody>
      </p:sp>
      <p:pic>
        <p:nvPicPr>
          <p:cNvPr id="8" name="Image 3" descr="/home/claude/a_footer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1554" y="6286500"/>
            <a:ext cx="1459382" cy="38953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 flipV="1">
            <a:off x="2651760" y="2267712"/>
            <a:ext cx="1325879" cy="1773936"/>
          </a:xfrm>
          <a:prstGeom prst="line">
            <a:avLst/>
          </a:prstGeom>
          <a:ln w="25400">
            <a:solidFill>
              <a:srgbClr val="6E9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651760" y="3154680"/>
            <a:ext cx="1325879" cy="886968"/>
          </a:xfrm>
          <a:prstGeom prst="line">
            <a:avLst/>
          </a:prstGeom>
          <a:ln w="25400">
            <a:solidFill>
              <a:srgbClr val="6E9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1760" y="4041648"/>
            <a:ext cx="1325879" cy="0"/>
          </a:xfrm>
          <a:prstGeom prst="line">
            <a:avLst/>
          </a:prstGeom>
          <a:ln w="25400">
            <a:solidFill>
              <a:srgbClr val="6E9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51760" y="4041648"/>
            <a:ext cx="1325879" cy="877824"/>
          </a:xfrm>
          <a:prstGeom prst="line">
            <a:avLst/>
          </a:prstGeom>
          <a:ln w="25400">
            <a:solidFill>
              <a:srgbClr val="6E9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51760" y="4041648"/>
            <a:ext cx="1325879" cy="1764792"/>
          </a:xfrm>
          <a:prstGeom prst="line">
            <a:avLst/>
          </a:prstGeom>
          <a:ln w="25400">
            <a:solidFill>
              <a:srgbClr val="6E9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77639" y="1874519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/>
            <a:r>
              <a:rPr sz="1050">
                <a:solidFill>
                  <a:srgbClr val="E9EFF9"/>
                </a:solidFill>
                <a:latin typeface="Calibri"/>
              </a:rPr>
              <a:t>Python • PyTorch / TensorFlow • FastAPI / Flask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761488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Computer Vision &amp; Geospatial</a:t>
            </a:r>
          </a:p>
          <a:p>
            <a:pPr algn="ctr"/>
            <a:r>
              <a:rPr sz="1050" dirty="0">
                <a:solidFill>
                  <a:srgbClr val="E9EFF9"/>
                </a:solidFill>
                <a:latin typeface="Calibri"/>
              </a:rPr>
              <a:t>OpenCV • </a:t>
            </a:r>
            <a:r>
              <a:rPr sz="1050" dirty="0" err="1">
                <a:solidFill>
                  <a:srgbClr val="E9EFF9"/>
                </a:solidFill>
                <a:latin typeface="Calibri"/>
              </a:rPr>
              <a:t>Rasterio</a:t>
            </a:r>
            <a:r>
              <a:rPr sz="1050" dirty="0">
                <a:solidFill>
                  <a:srgbClr val="E9EFF9"/>
                </a:solidFill>
                <a:latin typeface="Calibri"/>
              </a:rPr>
              <a:t> • GDAL • NumPy • </a:t>
            </a:r>
            <a:r>
              <a:rPr sz="1050" dirty="0" err="1">
                <a:solidFill>
                  <a:srgbClr val="E9EFF9"/>
                </a:solidFill>
                <a:latin typeface="Calibri"/>
              </a:rPr>
              <a:t>Albumentations</a:t>
            </a:r>
            <a:r>
              <a:rPr sz="1050" dirty="0">
                <a:solidFill>
                  <a:srgbClr val="E9EFF9"/>
                </a:solidFill>
                <a:latin typeface="Calibri"/>
              </a:rPr>
              <a:t> • Google Earth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648456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Models</a:t>
            </a:r>
          </a:p>
          <a:p>
            <a:pPr algn="ctr"/>
            <a:r>
              <a:rPr sz="1050">
                <a:solidFill>
                  <a:srgbClr val="E9EFF9"/>
                </a:solidFill>
                <a:latin typeface="Calibri"/>
              </a:rPr>
              <a:t>Real-ESRGAN • Pix2Pix (U-Net + PatchGAN) • U-Net / DeepLabV3+ • YOLO • NDVI / NDWI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4526280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Evaluation Metrics</a:t>
            </a:r>
          </a:p>
          <a:p>
            <a:pPr algn="ctr"/>
            <a:r>
              <a:rPr sz="1050">
                <a:solidFill>
                  <a:srgbClr val="E9EFF9"/>
                </a:solidFill>
                <a:latin typeface="Calibri"/>
              </a:rPr>
              <a:t>PSNR • SSIM • FID • Inference Time per 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5413248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Frontend &amp; Demo</a:t>
            </a:r>
          </a:p>
          <a:p>
            <a:pPr algn="ctr"/>
            <a:r>
              <a:rPr sz="1050">
                <a:solidFill>
                  <a:srgbClr val="E9EFF9"/>
                </a:solidFill>
                <a:latin typeface="Calibri"/>
              </a:rPr>
              <a:t>Streamlit / React Dashboard • Side-by-side Comparison • Confidence Scores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3310128"/>
            <a:ext cx="1828800" cy="1463040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PixelSentinel</a:t>
            </a:r>
          </a:p>
          <a:p>
            <a:pPr algn="ctr"/>
            <a:r>
              <a:rPr sz="1500" b="1" dirty="0">
                <a:solidFill>
                  <a:srgbClr val="FFFFFF"/>
                </a:solidFill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adi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662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" y="273406"/>
            <a:ext cx="1820570" cy="10177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5740" y="273406"/>
            <a:ext cx="1820570" cy="1017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PIXELSENTINEL</a:t>
            </a:r>
            <a:endParaRPr lang="en-US" sz="1300" dirty="0"/>
          </a:p>
        </p:txBody>
      </p:sp>
      <p:pic>
        <p:nvPicPr>
          <p:cNvPr id="5" name="Image 2" descr="/home/claude/a_dr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56032"/>
            <a:ext cx="1339596" cy="133319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31720" y="3840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800" dirty="0"/>
          </a:p>
        </p:txBody>
      </p:sp>
      <p:pic>
        <p:nvPicPr>
          <p:cNvPr id="8" name="Image 3" descr="/home/claude/a_footer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1554" y="6286500"/>
            <a:ext cx="1459382" cy="3895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" y="1965960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Calibri"/>
              </a:rPr>
              <a:t>STEP 1 · Satellite IR Image</a:t>
            </a:r>
          </a:p>
          <a:p>
            <a:pPr algn="ctr"/>
            <a:r>
              <a:rPr sz="1000" dirty="0">
                <a:solidFill>
                  <a:srgbClr val="E9EFF9"/>
                </a:solidFill>
                <a:latin typeface="Calibri"/>
              </a:rPr>
              <a:t>Landsat 8/9 Band 10/11 (Thermal IR) ingested</a:t>
            </a:r>
          </a:p>
        </p:txBody>
      </p:sp>
      <p:sp>
        <p:nvSpPr>
          <p:cNvPr id="10" name="Oval 9"/>
          <p:cNvSpPr/>
          <p:nvPr/>
        </p:nvSpPr>
        <p:spPr>
          <a:xfrm>
            <a:off x="667511" y="1810512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6100" y="2752344"/>
            <a:ext cx="0" cy="274319"/>
          </a:xfrm>
          <a:prstGeom prst="line">
            <a:avLst/>
          </a:prstGeom>
          <a:ln w="31750">
            <a:solidFill>
              <a:srgbClr val="1E63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017332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STEP 2 · Preprocessing</a:t>
            </a:r>
          </a:p>
          <a:p>
            <a:pPr algn="ctr"/>
            <a:r>
              <a:rPr sz="1000">
                <a:solidFill>
                  <a:srgbClr val="E9EFF9"/>
                </a:solidFill>
                <a:latin typeface="Calibri"/>
              </a:rPr>
              <a:t>Co-registration, atmospheric correction, normalization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67511" y="2871215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86100" y="3813048"/>
            <a:ext cx="0" cy="274320"/>
          </a:xfrm>
          <a:prstGeom prst="line">
            <a:avLst/>
          </a:prstGeom>
          <a:ln w="31750">
            <a:solidFill>
              <a:srgbClr val="1E63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4087368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STEP 3 · Real-ESRGAN</a:t>
            </a:r>
          </a:p>
          <a:p>
            <a:pPr algn="ctr"/>
            <a:r>
              <a:rPr sz="1000">
                <a:solidFill>
                  <a:srgbClr val="E9EFF9"/>
                </a:solidFill>
                <a:latin typeface="Calibri"/>
              </a:rPr>
              <a:t>Super-resolution enhancement of the IR tile</a:t>
            </a:r>
          </a:p>
        </p:txBody>
      </p:sp>
      <p:sp>
        <p:nvSpPr>
          <p:cNvPr id="16" name="Oval 15"/>
          <p:cNvSpPr/>
          <p:nvPr/>
        </p:nvSpPr>
        <p:spPr>
          <a:xfrm>
            <a:off x="667511" y="3931920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86100" y="4873752"/>
            <a:ext cx="0" cy="274319"/>
          </a:xfrm>
          <a:prstGeom prst="line">
            <a:avLst/>
          </a:prstGeom>
          <a:ln w="31750">
            <a:solidFill>
              <a:srgbClr val="1E63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5148071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STEP 4 · Pix2Pix U-Net</a:t>
            </a:r>
          </a:p>
          <a:p>
            <a:pPr algn="ctr"/>
            <a:r>
              <a:rPr sz="1000">
                <a:solidFill>
                  <a:srgbClr val="E9EFF9"/>
                </a:solidFill>
                <a:latin typeface="Calibri"/>
              </a:rPr>
              <a:t>IR → RGB colorization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67511" y="4992623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965960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STEP 5 · NDVI / NDWI Verification</a:t>
            </a:r>
          </a:p>
          <a:p>
            <a:pPr algn="ctr"/>
            <a:r>
              <a:rPr sz="1000">
                <a:solidFill>
                  <a:srgbClr val="E9EFF9"/>
                </a:solidFill>
                <a:latin typeface="Calibri"/>
              </a:rPr>
              <a:t>Enforces physically correct colors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1810512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026663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STEP 6 · YOLO + DeepLabV3+</a:t>
            </a:r>
          </a:p>
          <a:p>
            <a:pPr algn="ctr"/>
            <a:r>
              <a:rPr sz="1000">
                <a:solidFill>
                  <a:srgbClr val="E9EFF9"/>
                </a:solidFill>
                <a:latin typeface="Calibri"/>
              </a:rPr>
              <a:t>Object detection &amp; segmentation validation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2871215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087368"/>
            <a:ext cx="4434840" cy="786384"/>
          </a:xfrm>
          <a:prstGeom prst="roundRect">
            <a:avLst>
              <a:gd name="adj" fmla="val 14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STEP 7 · Intelligence Dashboard</a:t>
            </a:r>
          </a:p>
          <a:p>
            <a:pPr algn="ctr"/>
            <a:r>
              <a:rPr sz="1000">
                <a:solidFill>
                  <a:srgbClr val="E9EFF9"/>
                </a:solidFill>
                <a:latin typeface="Calibri"/>
              </a:rPr>
              <a:t>Enhanced satellite output delivered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3931920"/>
            <a:ext cx="310896" cy="310896"/>
          </a:xfrm>
          <a:prstGeom prst="ellipse">
            <a:avLst/>
          </a:prstGeom>
          <a:solidFill>
            <a:srgbClr val="1E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86100" y="5934455"/>
            <a:ext cx="0" cy="228600"/>
          </a:xfrm>
          <a:prstGeom prst="line">
            <a:avLst/>
          </a:prstGeom>
          <a:ln w="28575">
            <a:solidFill>
              <a:srgbClr val="1E63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28">
            <a:extLst>
              <a:ext uri="{FF2B5EF4-FFF2-40B4-BE49-F238E27FC236}">
                <a16:creationId xmlns:a16="http://schemas.microsoft.com/office/drawing/2014/main" id="{2FE00341-0BEB-092A-A751-D15FEFB23030}"/>
              </a:ext>
            </a:extLst>
          </p:cNvPr>
          <p:cNvCxnSpPr>
            <a:cxnSpLocks/>
          </p:cNvCxnSpPr>
          <p:nvPr/>
        </p:nvCxnSpPr>
        <p:spPr>
          <a:xfrm>
            <a:off x="8979619" y="2724550"/>
            <a:ext cx="0" cy="30654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8">
            <a:extLst>
              <a:ext uri="{FF2B5EF4-FFF2-40B4-BE49-F238E27FC236}">
                <a16:creationId xmlns:a16="http://schemas.microsoft.com/office/drawing/2014/main" id="{EF659242-57B5-D1F9-2604-DE933C131224}"/>
              </a:ext>
            </a:extLst>
          </p:cNvPr>
          <p:cNvCxnSpPr>
            <a:cxnSpLocks/>
          </p:cNvCxnSpPr>
          <p:nvPr/>
        </p:nvCxnSpPr>
        <p:spPr>
          <a:xfrm>
            <a:off x="8973397" y="3791364"/>
            <a:ext cx="0" cy="30654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8">
            <a:extLst>
              <a:ext uri="{FF2B5EF4-FFF2-40B4-BE49-F238E27FC236}">
                <a16:creationId xmlns:a16="http://schemas.microsoft.com/office/drawing/2014/main" id="{BB77D47F-D67A-77E9-3702-18801970F992}"/>
              </a:ext>
            </a:extLst>
          </p:cNvPr>
          <p:cNvCxnSpPr>
            <a:cxnSpLocks/>
          </p:cNvCxnSpPr>
          <p:nvPr/>
        </p:nvCxnSpPr>
        <p:spPr>
          <a:xfrm>
            <a:off x="8973398" y="2195815"/>
            <a:ext cx="0" cy="30654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159E5DC-6B4D-B58C-F511-D1F516683DF6}"/>
              </a:ext>
            </a:extLst>
          </p:cNvPr>
          <p:cNvCxnSpPr>
            <a:cxnSpLocks/>
          </p:cNvCxnSpPr>
          <p:nvPr/>
        </p:nvCxnSpPr>
        <p:spPr>
          <a:xfrm flipV="1">
            <a:off x="3086100" y="1709929"/>
            <a:ext cx="5893519" cy="4453126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8">
            <a:extLst>
              <a:ext uri="{FF2B5EF4-FFF2-40B4-BE49-F238E27FC236}">
                <a16:creationId xmlns:a16="http://schemas.microsoft.com/office/drawing/2014/main" id="{032A245D-E9BA-FEC6-F6BD-8E3653698E44}"/>
              </a:ext>
            </a:extLst>
          </p:cNvPr>
          <p:cNvCxnSpPr>
            <a:cxnSpLocks/>
          </p:cNvCxnSpPr>
          <p:nvPr/>
        </p:nvCxnSpPr>
        <p:spPr>
          <a:xfrm>
            <a:off x="8964061" y="1691961"/>
            <a:ext cx="0" cy="30654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adi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09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" y="273406"/>
            <a:ext cx="1820570" cy="10177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5740" y="273406"/>
            <a:ext cx="1820570" cy="1017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PIXELSENTINEL</a:t>
            </a:r>
            <a:endParaRPr lang="en-US" sz="1300" dirty="0"/>
          </a:p>
        </p:txBody>
      </p:sp>
      <p:pic>
        <p:nvPicPr>
          <p:cNvPr id="5" name="Image 2" descr="/home/claude/a_dr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56032"/>
            <a:ext cx="1339596" cy="133319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31720" y="3840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/ Impact</a:t>
            </a:r>
            <a:endParaRPr lang="en-US" sz="3800" dirty="0"/>
          </a:p>
        </p:txBody>
      </p:sp>
      <p:pic>
        <p:nvPicPr>
          <p:cNvPr id="8" name="Image 3" descr="/home/claude/a_footer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1554" y="6286500"/>
            <a:ext cx="1459382" cy="389534"/>
          </a:xfrm>
          <a:prstGeom prst="rect">
            <a:avLst/>
          </a:prstGeom>
        </p:spPr>
      </p:pic>
      <p:pic>
        <p:nvPicPr>
          <p:cNvPr id="9" name="Picture 8" descr="impact_compos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1" y="2334503"/>
            <a:ext cx="1774030" cy="2114053"/>
          </a:xfrm>
          <a:prstGeom prst="rect">
            <a:avLst/>
          </a:prstGeom>
        </p:spPr>
      </p:pic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812ACA6A-9A2B-D6A6-6812-8D9AFE2AE1A6}"/>
              </a:ext>
            </a:extLst>
          </p:cNvPr>
          <p:cNvSpPr/>
          <p:nvPr/>
        </p:nvSpPr>
        <p:spPr>
          <a:xfrm>
            <a:off x="529963" y="1715898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First IR colorization pipeline purpose-built and validated on Landsat orbital satellite data — not repurposed from ground-level thermal camera models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5190AAA2-9D99-9D1D-E94D-92969254B962}"/>
              </a:ext>
            </a:extLst>
          </p:cNvPr>
          <p:cNvSpPr/>
          <p:nvPr/>
        </p:nvSpPr>
        <p:spPr>
          <a:xfrm>
            <a:off x="533068" y="2661400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Semantic constraint module (NDVI/NDWI) eliminates hallucinated colors in the output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AA3AC2B-5515-9ADA-BAA9-A7C1259F8DAD}"/>
              </a:ext>
            </a:extLst>
          </p:cNvPr>
          <p:cNvSpPr/>
          <p:nvPr/>
        </p:nvSpPr>
        <p:spPr>
          <a:xfrm>
            <a:off x="551729" y="3585145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Output validated against downstream object detection accuracy, not just visual realism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A4493E6E-41B7-5B14-4672-9EC4A4F9FC1F}"/>
              </a:ext>
            </a:extLst>
          </p:cNvPr>
          <p:cNvSpPr/>
          <p:nvPr/>
        </p:nvSpPr>
        <p:spPr>
          <a:xfrm>
            <a:off x="551729" y="4508890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Geospatial tile-aware pipeline ensures consistent color mapping and is deployable at operational scale</a:t>
            </a:r>
          </a:p>
        </p:txBody>
      </p:sp>
      <p:sp>
        <p:nvSpPr>
          <p:cNvPr id="19" name="Rounded Rectangle 13">
            <a:extLst>
              <a:ext uri="{FF2B5EF4-FFF2-40B4-BE49-F238E27FC236}">
                <a16:creationId xmlns:a16="http://schemas.microsoft.com/office/drawing/2014/main" id="{1C14A366-058C-C196-60D6-A3F9CEF928A2}"/>
              </a:ext>
            </a:extLst>
          </p:cNvPr>
          <p:cNvSpPr/>
          <p:nvPr/>
        </p:nvSpPr>
        <p:spPr>
          <a:xfrm>
            <a:off x="564164" y="5426402"/>
            <a:ext cx="9692640" cy="786384"/>
          </a:xfrm>
          <a:prstGeom prst="roundRect">
            <a:avLst>
              <a:gd name="adj" fmla="val 12000"/>
            </a:avLst>
          </a:prstGeom>
          <a:solidFill>
            <a:srgbClr val="0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</a:rPr>
              <a:t>Inference time optimized per tile for scalable, real-world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500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BABU</cp:lastModifiedBy>
  <cp:revision>3</cp:revision>
  <dcterms:created xsi:type="dcterms:W3CDTF">2026-07-21T02:04:33Z</dcterms:created>
  <dcterms:modified xsi:type="dcterms:W3CDTF">2026-07-21T13:44:49Z</dcterms:modified>
</cp:coreProperties>
</file>